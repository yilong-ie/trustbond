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5080">
            <a:solidFill>
              <a:srgbClr val="1A2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0"/>
            <a:ext cx="0" cy="5143500"/>
          </a:xfrm>
          <a:prstGeom prst="line">
            <a:avLst/>
          </a:prstGeom>
          <a:noFill/>
          <a:ln w="5080">
            <a:solidFill>
              <a:srgbClr val="1A2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0"/>
            <a:ext cx="0" cy="5143500"/>
          </a:xfrm>
          <a:prstGeom prst="line">
            <a:avLst/>
          </a:prstGeom>
          <a:noFill/>
          <a:ln w="5080">
            <a:solidFill>
              <a:srgbClr val="1A2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0"/>
            <a:ext cx="0" cy="5143500"/>
          </a:xfrm>
          <a:prstGeom prst="line">
            <a:avLst/>
          </a:prstGeom>
          <a:noFill/>
          <a:ln w="5080">
            <a:solidFill>
              <a:srgbClr val="1A2A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63040" y="0"/>
            <a:ext cx="0" cy="5143500"/>
          </a:xfrm>
          <a:prstGeom prst="line">
            <a:avLst/>
          </a:prstGeom>
          <a:noFill/>
          <a:ln w="5080">
            <a:solidFill>
              <a:srgbClr val="1A2A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5080">
            <a:solidFill>
              <a:srgbClr val="1A2A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94560" y="0"/>
            <a:ext cx="0" cy="5143500"/>
          </a:xfrm>
          <a:prstGeom prst="line">
            <a:avLst/>
          </a:prstGeom>
          <a:noFill/>
          <a:ln w="5080">
            <a:solidFill>
              <a:srgbClr val="1A2A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0" y="0"/>
            <a:ext cx="0" cy="5143500"/>
          </a:xfrm>
          <a:prstGeom prst="line">
            <a:avLst/>
          </a:prstGeom>
          <a:noFill/>
          <a:ln w="5080">
            <a:solidFill>
              <a:srgbClr val="1A2A1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26080" y="0"/>
            <a:ext cx="0" cy="5143500"/>
          </a:xfrm>
          <a:prstGeom prst="line">
            <a:avLst/>
          </a:prstGeom>
          <a:noFill/>
          <a:ln w="5080">
            <a:solidFill>
              <a:srgbClr val="1A2A1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0"/>
            <a:ext cx="0" cy="5143500"/>
          </a:xfrm>
          <a:prstGeom prst="line">
            <a:avLst/>
          </a:prstGeom>
          <a:noFill/>
          <a:ln w="5080">
            <a:solidFill>
              <a:srgbClr val="1A2A1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5080">
            <a:solidFill>
              <a:srgbClr val="1A2A1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023360" y="0"/>
            <a:ext cx="0" cy="5143500"/>
          </a:xfrm>
          <a:prstGeom prst="line">
            <a:avLst/>
          </a:prstGeom>
          <a:noFill/>
          <a:ln w="5080">
            <a:solidFill>
              <a:srgbClr val="1A2A1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89120" y="0"/>
            <a:ext cx="0" cy="5143500"/>
          </a:xfrm>
          <a:prstGeom prst="line">
            <a:avLst/>
          </a:prstGeom>
          <a:noFill/>
          <a:ln w="5080">
            <a:solidFill>
              <a:srgbClr val="1A2A1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0" y="0"/>
            <a:ext cx="0" cy="5143500"/>
          </a:xfrm>
          <a:prstGeom prst="line">
            <a:avLst/>
          </a:prstGeom>
          <a:noFill/>
          <a:ln w="5080">
            <a:solidFill>
              <a:srgbClr val="1A2A1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20640" y="0"/>
            <a:ext cx="0" cy="5143500"/>
          </a:xfrm>
          <a:prstGeom prst="line">
            <a:avLst/>
          </a:prstGeom>
          <a:noFill/>
          <a:ln w="5080">
            <a:solidFill>
              <a:srgbClr val="1A2A1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5080">
            <a:solidFill>
              <a:srgbClr val="1A2A1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52160" y="0"/>
            <a:ext cx="0" cy="5143500"/>
          </a:xfrm>
          <a:prstGeom prst="line">
            <a:avLst/>
          </a:prstGeom>
          <a:noFill/>
          <a:ln w="5080">
            <a:solidFill>
              <a:srgbClr val="1A2A1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0"/>
            <a:ext cx="0" cy="5143500"/>
          </a:xfrm>
          <a:prstGeom prst="line">
            <a:avLst/>
          </a:prstGeom>
          <a:noFill/>
          <a:ln w="5080">
            <a:solidFill>
              <a:srgbClr val="1A2A1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5080">
            <a:solidFill>
              <a:srgbClr val="1A2A1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49440" y="0"/>
            <a:ext cx="0" cy="5143500"/>
          </a:xfrm>
          <a:prstGeom prst="line">
            <a:avLst/>
          </a:prstGeom>
          <a:noFill/>
          <a:ln w="5080">
            <a:solidFill>
              <a:srgbClr val="1A2A1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5080">
            <a:solidFill>
              <a:srgbClr val="1A2A1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680960" y="0"/>
            <a:ext cx="0" cy="5143500"/>
          </a:xfrm>
          <a:prstGeom prst="line">
            <a:avLst/>
          </a:prstGeom>
          <a:noFill/>
          <a:ln w="5080">
            <a:solidFill>
              <a:srgbClr val="1A2A1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46720" y="0"/>
            <a:ext cx="0" cy="5143500"/>
          </a:xfrm>
          <a:prstGeom prst="line">
            <a:avLst/>
          </a:prstGeom>
          <a:noFill/>
          <a:ln w="5080">
            <a:solidFill>
              <a:srgbClr val="1A2A1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12480" y="0"/>
            <a:ext cx="0" cy="5143500"/>
          </a:xfrm>
          <a:prstGeom prst="line">
            <a:avLst/>
          </a:prstGeom>
          <a:noFill/>
          <a:ln w="5080">
            <a:solidFill>
              <a:srgbClr val="1A2A1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778240" y="0"/>
            <a:ext cx="0" cy="5143500"/>
          </a:xfrm>
          <a:prstGeom prst="line">
            <a:avLst/>
          </a:prstGeom>
          <a:noFill/>
          <a:ln w="5080">
            <a:solidFill>
              <a:srgbClr val="1A2A1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5080">
            <a:solidFill>
              <a:srgbClr val="1A2A1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5080">
            <a:solidFill>
              <a:srgbClr val="1A2A1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1A2A1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1A2A1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1A2A1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1A2A1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1A2A1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1A2A1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1A2A1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1A2A1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1A2A1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1A2A1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1A2A1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1A2A1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1A2A1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1A2A1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-1371600" y="457200"/>
            <a:ext cx="4572000" cy="4572000"/>
          </a:xfrm>
          <a:prstGeom prst="ellipse">
            <a:avLst/>
          </a:prstGeom>
          <a:solidFill>
            <a:srgbClr val="4ADE80">
              <a:alpha val="12000"/>
            </a:srgbClr>
          </a:solidFill>
          <a:ln w="12700">
            <a:solidFill>
              <a:srgbClr val="4ADE80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8640" y="1005840"/>
            <a:ext cx="6217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spc="600" kern="0" dirty="0">
                <a:solidFill>
                  <a:srgbClr val="4ADE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TRUSTBOND</a:t>
            </a:r>
            <a:endParaRPr lang="en-US" sz="5600" dirty="0"/>
          </a:p>
        </p:txBody>
      </p:sp>
      <p:sp>
        <p:nvSpPr>
          <p:cNvPr id="45" name="Text 43"/>
          <p:cNvSpPr/>
          <p:nvPr/>
        </p:nvSpPr>
        <p:spPr>
          <a:xfrm>
            <a:off x="640080" y="224028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rgbClr val="E8F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Donations on the XRP Ledger</a:t>
            </a:r>
            <a:endParaRPr lang="en-US" sz="1900" dirty="0"/>
          </a:p>
        </p:txBody>
      </p:sp>
      <p:sp>
        <p:nvSpPr>
          <p:cNvPr id="46" name="Shape 44"/>
          <p:cNvSpPr/>
          <p:nvPr/>
        </p:nvSpPr>
        <p:spPr>
          <a:xfrm>
            <a:off x="640080" y="2834640"/>
            <a:ext cx="3474720" cy="0"/>
          </a:xfrm>
          <a:prstGeom prst="line">
            <a:avLst/>
          </a:prstGeom>
          <a:noFill/>
          <a:ln w="12700">
            <a:solidFill>
              <a:srgbClr val="16653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0080" y="29718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8F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XRPL Commons Hackathon  ·  Challenge 4: TrustBond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949440" y="914400"/>
            <a:ext cx="1920240" cy="1097280"/>
          </a:xfrm>
          <a:prstGeom prst="rect">
            <a:avLst/>
          </a:prstGeom>
          <a:solidFill>
            <a:srgbClr val="161E16"/>
          </a:solidFill>
          <a:ln w="9525">
            <a:solidFill>
              <a:srgbClr val="1F2E1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6949440" y="10058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ADE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$2.8T</a:t>
            </a:r>
            <a:endParaRPr lang="en-US" sz="3000" dirty="0"/>
          </a:p>
        </p:txBody>
      </p:sp>
      <p:sp>
        <p:nvSpPr>
          <p:cNvPr id="50" name="Text 48"/>
          <p:cNvSpPr/>
          <p:nvPr/>
        </p:nvSpPr>
        <p:spPr>
          <a:xfrm>
            <a:off x="6949440" y="16002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8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NGO Sector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949440" y="2240280"/>
            <a:ext cx="1920240" cy="1097280"/>
          </a:xfrm>
          <a:prstGeom prst="rect">
            <a:avLst/>
          </a:prstGeom>
          <a:solidFill>
            <a:srgbClr val="161E16"/>
          </a:solidFill>
          <a:ln w="9525">
            <a:solidFill>
              <a:srgbClr val="1F2E1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6949440" y="23317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ADE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43%</a:t>
            </a:r>
            <a:endParaRPr lang="en-US" sz="3000" dirty="0"/>
          </a:p>
        </p:txBody>
      </p:sp>
      <p:sp>
        <p:nvSpPr>
          <p:cNvPr id="53" name="Text 51"/>
          <p:cNvSpPr/>
          <p:nvPr/>
        </p:nvSpPr>
        <p:spPr>
          <a:xfrm>
            <a:off x="6949440" y="29260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8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Donor Retention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949440" y="3566160"/>
            <a:ext cx="1920240" cy="1097280"/>
          </a:xfrm>
          <a:prstGeom prst="rect">
            <a:avLst/>
          </a:prstGeom>
          <a:solidFill>
            <a:srgbClr val="161E16"/>
          </a:solidFill>
          <a:ln w="9525">
            <a:solidFill>
              <a:srgbClr val="1F2E1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6949440" y="365760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ADE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15%</a:t>
            </a:r>
            <a:endParaRPr lang="en-US" sz="3000" dirty="0"/>
          </a:p>
        </p:txBody>
      </p:sp>
      <p:sp>
        <p:nvSpPr>
          <p:cNvPr id="56" name="Text 54"/>
          <p:cNvSpPr/>
          <p:nvPr/>
        </p:nvSpPr>
        <p:spPr>
          <a:xfrm>
            <a:off x="6949440" y="42519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8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Fees on Traditional Rails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B8F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F5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Donors can't verify where their money goes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4114800" cy="1325880"/>
          </a:xfrm>
          <a:prstGeom prst="rect">
            <a:avLst/>
          </a:prstGeom>
          <a:solidFill>
            <a:srgbClr val="161E16"/>
          </a:solidFill>
          <a:ln w="9525">
            <a:solidFill>
              <a:srgbClr val="1F2E1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54480"/>
            <a:ext cx="64008" cy="132588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916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E8F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280160" y="166420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F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Opaque Fund Flows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20574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visibility after funds are transferred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92040" y="1554480"/>
            <a:ext cx="4114800" cy="1325880"/>
          </a:xfrm>
          <a:prstGeom prst="rect">
            <a:avLst/>
          </a:prstGeom>
          <a:solidFill>
            <a:srgbClr val="161E16"/>
          </a:solidFill>
          <a:ln w="9525">
            <a:solidFill>
              <a:srgbClr val="1F2E1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92040" y="1554480"/>
            <a:ext cx="64008" cy="132588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74920" y="16916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E8F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715000" y="166420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F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Delays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715000" y="20574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reports arrive 12–18 months after donation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063240"/>
            <a:ext cx="4114800" cy="1325880"/>
          </a:xfrm>
          <a:prstGeom prst="rect">
            <a:avLst/>
          </a:prstGeom>
          <a:solidFill>
            <a:srgbClr val="161E16"/>
          </a:solidFill>
          <a:ln w="9525">
            <a:solidFill>
              <a:srgbClr val="1F2E1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063240"/>
            <a:ext cx="64008" cy="132588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200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E8F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💸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280160" y="317296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F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Fees (3–15%)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80160" y="35661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cards &amp; wire transfers drain NGO budgets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92040" y="3063240"/>
            <a:ext cx="4114800" cy="1325880"/>
          </a:xfrm>
          <a:prstGeom prst="rect">
            <a:avLst/>
          </a:prstGeom>
          <a:solidFill>
            <a:srgbClr val="161E16"/>
          </a:solidFill>
          <a:ln w="9525">
            <a:solidFill>
              <a:srgbClr val="1F2E1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92040" y="3063240"/>
            <a:ext cx="64008" cy="132588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74920" y="3200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E8F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5715000" y="317296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F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Verifiable Proof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715000" y="35661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Self-reported impact with no independent audit trail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B8F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F5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donation becomes an immutable on-chain receipt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1828800" cy="1691640"/>
          </a:xfrm>
          <a:prstGeom prst="rect">
            <a:avLst/>
          </a:prstGeom>
          <a:solidFill>
            <a:srgbClr val="161E16"/>
          </a:solidFill>
          <a:ln w="9525">
            <a:solidFill>
              <a:srgbClr val="1F2E1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572768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E8F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DONOR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6334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8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XRP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86000" y="192024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606040" y="1508760"/>
            <a:ext cx="1828800" cy="1691640"/>
          </a:xfrm>
          <a:prstGeom prst="rect">
            <a:avLst/>
          </a:prstGeom>
          <a:solidFill>
            <a:srgbClr val="161E16"/>
          </a:solidFill>
          <a:ln w="9525">
            <a:solidFill>
              <a:srgbClr val="1F2E1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06040" y="1572768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E8F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606040" y="2286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XRPL PATH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06040" y="26334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8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ripple_path_find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434840" y="192024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754880" y="1508760"/>
            <a:ext cx="1828800" cy="1691640"/>
          </a:xfrm>
          <a:prstGeom prst="rect">
            <a:avLst/>
          </a:prstGeom>
          <a:solidFill>
            <a:srgbClr val="161E16"/>
          </a:solidFill>
          <a:ln w="9525">
            <a:solidFill>
              <a:srgbClr val="1F2E1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54880" y="1572768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E8F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754880" y="2286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NGO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26334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8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funds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583680" y="192024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6903720" y="1508760"/>
            <a:ext cx="1828800" cy="1691640"/>
          </a:xfrm>
          <a:prstGeom prst="rect">
            <a:avLst/>
          </a:prstGeom>
          <a:solidFill>
            <a:srgbClr val="161E16"/>
          </a:solidFill>
          <a:ln w="9525">
            <a:solidFill>
              <a:srgbClr val="1F2E1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903720" y="1572768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E8F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6903720" y="2286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 TOKEN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903720" y="26334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8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receipt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429000"/>
            <a:ext cx="1828800" cy="1463040"/>
          </a:xfrm>
          <a:prstGeom prst="rect">
            <a:avLst/>
          </a:prstGeom>
          <a:solidFill>
            <a:srgbClr val="111811"/>
          </a:solidFill>
          <a:ln w="9525">
            <a:solidFill>
              <a:srgbClr val="1F2E1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1792" y="3593592"/>
            <a:ext cx="1499616" cy="256032"/>
          </a:xfrm>
          <a:prstGeom prst="rect">
            <a:avLst/>
          </a:prstGeom>
          <a:solidFill>
            <a:srgbClr val="161E16"/>
          </a:solidFill>
          <a:ln w="6350">
            <a:solidFill>
              <a:srgbClr val="4ADE8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" y="3593592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TrustSet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3995928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8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on-chain consent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606040" y="3429000"/>
            <a:ext cx="1828800" cy="1463040"/>
          </a:xfrm>
          <a:prstGeom prst="rect">
            <a:avLst/>
          </a:prstGeom>
          <a:solidFill>
            <a:srgbClr val="111811"/>
          </a:solidFill>
          <a:ln w="9525">
            <a:solidFill>
              <a:srgbClr val="1F2E1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70632" y="3593592"/>
            <a:ext cx="1499616" cy="256032"/>
          </a:xfrm>
          <a:prstGeom prst="rect">
            <a:avLst/>
          </a:prstGeom>
          <a:solidFill>
            <a:srgbClr val="161E16"/>
          </a:solidFill>
          <a:ln w="6350">
            <a:solidFill>
              <a:srgbClr val="FBBF2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70632" y="3593592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IOU Token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697480" y="3995928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8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 backed 1:1 by XRP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54880" y="3429000"/>
            <a:ext cx="1828800" cy="1463040"/>
          </a:xfrm>
          <a:prstGeom prst="rect">
            <a:avLst/>
          </a:prstGeom>
          <a:solidFill>
            <a:srgbClr val="111811"/>
          </a:solidFill>
          <a:ln w="9525">
            <a:solidFill>
              <a:srgbClr val="1F2E1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919472" y="3593592"/>
            <a:ext cx="1499616" cy="256032"/>
          </a:xfrm>
          <a:prstGeom prst="rect">
            <a:avLst/>
          </a:prstGeom>
          <a:solidFill>
            <a:srgbClr val="161E16"/>
          </a:solidFill>
          <a:ln w="6350">
            <a:solidFill>
              <a:srgbClr val="60A5F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19472" y="3593592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Pathfinding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846320" y="3995928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8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cross-currency swap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903720" y="3429000"/>
            <a:ext cx="1828800" cy="1463040"/>
          </a:xfrm>
          <a:prstGeom prst="rect">
            <a:avLst/>
          </a:prstGeom>
          <a:solidFill>
            <a:srgbClr val="111811"/>
          </a:solidFill>
          <a:ln w="9525">
            <a:solidFill>
              <a:srgbClr val="1F2E1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068312" y="3593592"/>
            <a:ext cx="1499616" cy="256032"/>
          </a:xfrm>
          <a:prstGeom prst="rect">
            <a:avLst/>
          </a:prstGeom>
          <a:solidFill>
            <a:srgbClr val="161E16"/>
          </a:solidFill>
          <a:ln w="6350">
            <a:solidFill>
              <a:srgbClr val="4ADE8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068312" y="3593592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Ledger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995160" y="3995928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8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verify, forever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B8F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F5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steps. One ledger. Zero opacity.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1965960" cy="3429000"/>
          </a:xfrm>
          <a:prstGeom prst="rect">
            <a:avLst/>
          </a:prstGeom>
          <a:solidFill>
            <a:srgbClr val="161E16"/>
          </a:solidFill>
          <a:ln w="9525">
            <a:solidFill>
              <a:srgbClr val="1F2E1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17320"/>
            <a:ext cx="1965960" cy="502920"/>
          </a:xfrm>
          <a:prstGeom prst="rect">
            <a:avLst/>
          </a:prstGeom>
          <a:solidFill>
            <a:srgbClr val="166534">
              <a:alpha val="75000"/>
            </a:srgbClr>
          </a:solidFill>
          <a:ln w="12700">
            <a:solidFill>
              <a:srgbClr val="1F2E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173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" y="20116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F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Setup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2468880"/>
            <a:ext cx="1691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 Issuer + Donor wallets created and funded on XRPL Testnet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4343400"/>
            <a:ext cx="1783080" cy="320040"/>
          </a:xfrm>
          <a:prstGeom prst="rect">
            <a:avLst/>
          </a:prstGeom>
          <a:solidFill>
            <a:srgbClr val="111811"/>
          </a:solidFill>
          <a:ln w="6350">
            <a:solidFill>
              <a:srgbClr val="1665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3434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Wallet.generate() + fundWallet()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560320" y="1417320"/>
            <a:ext cx="1965960" cy="3429000"/>
          </a:xfrm>
          <a:prstGeom prst="rect">
            <a:avLst/>
          </a:prstGeom>
          <a:solidFill>
            <a:srgbClr val="161E16"/>
          </a:solidFill>
          <a:ln w="9525">
            <a:solidFill>
              <a:srgbClr val="1F2E1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60320" y="1417320"/>
            <a:ext cx="1965960" cy="502920"/>
          </a:xfrm>
          <a:prstGeom prst="rect">
            <a:avLst/>
          </a:prstGeom>
          <a:solidFill>
            <a:srgbClr val="166534">
              <a:alpha val="75000"/>
            </a:srgbClr>
          </a:solidFill>
          <a:ln w="12700">
            <a:solidFill>
              <a:srgbClr val="1F2E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0" y="14173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697480" y="20116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F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Trustline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697480" y="2468880"/>
            <a:ext cx="1691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sets a formal TrustSet — capped limit, on-chain consent to receive EDU tokens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651760" y="4343400"/>
            <a:ext cx="1783080" cy="320040"/>
          </a:xfrm>
          <a:prstGeom prst="rect">
            <a:avLst/>
          </a:prstGeom>
          <a:solidFill>
            <a:srgbClr val="111811"/>
          </a:solidFill>
          <a:ln w="6350">
            <a:solidFill>
              <a:srgbClr val="16653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43434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TrustSet transaction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754880" y="1417320"/>
            <a:ext cx="1965960" cy="3429000"/>
          </a:xfrm>
          <a:prstGeom prst="rect">
            <a:avLst/>
          </a:prstGeom>
          <a:solidFill>
            <a:srgbClr val="161E16"/>
          </a:solidFill>
          <a:ln w="9525">
            <a:solidFill>
              <a:srgbClr val="1F2E1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417320"/>
            <a:ext cx="1965960" cy="502920"/>
          </a:xfrm>
          <a:prstGeom prst="rect">
            <a:avLst/>
          </a:prstGeom>
          <a:solidFill>
            <a:srgbClr val="166534">
              <a:alpha val="75000"/>
            </a:srgbClr>
          </a:solidFill>
          <a:ln w="12700">
            <a:solidFill>
              <a:srgbClr val="1F2E1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14173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892040" y="20116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F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Pathfinding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92040" y="2468880"/>
            <a:ext cx="1691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ripple_path_find queries XRPL DEX for the optimal XRP → EDU conversion route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46320" y="4343400"/>
            <a:ext cx="1783080" cy="320040"/>
          </a:xfrm>
          <a:prstGeom prst="rect">
            <a:avLst/>
          </a:prstGeom>
          <a:solidFill>
            <a:srgbClr val="111811"/>
          </a:solidFill>
          <a:ln w="6350">
            <a:solidFill>
              <a:srgbClr val="16653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43434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ripple_path_find API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949440" y="1417320"/>
            <a:ext cx="1965960" cy="3429000"/>
          </a:xfrm>
          <a:prstGeom prst="rect">
            <a:avLst/>
          </a:prstGeom>
          <a:solidFill>
            <a:srgbClr val="161E16"/>
          </a:solidFill>
          <a:ln w="9525">
            <a:solidFill>
              <a:srgbClr val="1F2E1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949440" y="1417320"/>
            <a:ext cx="1965960" cy="502920"/>
          </a:xfrm>
          <a:prstGeom prst="rect">
            <a:avLst/>
          </a:prstGeom>
          <a:solidFill>
            <a:srgbClr val="166534">
              <a:alpha val="75000"/>
            </a:srgbClr>
          </a:solidFill>
          <a:ln w="12700">
            <a:solidFill>
              <a:srgbClr val="1F2E1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49440" y="14173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7086600" y="20116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F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+ Receipt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086600" y="2468880"/>
            <a:ext cx="1691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atomic cross-currency payment. Donor holds EDU as permanent proof of giving.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040880" y="4343400"/>
            <a:ext cx="1783080" cy="320040"/>
          </a:xfrm>
          <a:prstGeom prst="rect">
            <a:avLst/>
          </a:prstGeom>
          <a:solidFill>
            <a:srgbClr val="111811"/>
          </a:solidFill>
          <a:ln w="6350">
            <a:solidFill>
              <a:srgbClr val="16653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40880" y="43434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 (cross-currency)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B8F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 USERS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F5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TrustBond serves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2697480" cy="3474720"/>
          </a:xfrm>
          <a:prstGeom prst="rect">
            <a:avLst/>
          </a:prstGeom>
          <a:solidFill>
            <a:srgbClr val="161E16"/>
          </a:solidFill>
          <a:ln w="9525">
            <a:solidFill>
              <a:srgbClr val="1F2E1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17320"/>
            <a:ext cx="64008" cy="347472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54480"/>
            <a:ext cx="1371600" cy="256032"/>
          </a:xfrm>
          <a:prstGeom prst="rect">
            <a:avLst/>
          </a:prstGeom>
          <a:solidFill>
            <a:srgbClr val="111811"/>
          </a:solidFill>
          <a:ln w="6350">
            <a:solidFill>
              <a:srgbClr val="4ADE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5544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Primary Market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1947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8F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48640" y="253288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F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NGOs &amp; Nonprofits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3044952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6B8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branded EDU impact tokens as receipts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61188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6B8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donor trust without expensive audits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4178808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6B8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public proof of fund allocation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91840" y="1417320"/>
            <a:ext cx="2697480" cy="3474720"/>
          </a:xfrm>
          <a:prstGeom prst="rect">
            <a:avLst/>
          </a:prstGeom>
          <a:solidFill>
            <a:srgbClr val="161E16"/>
          </a:solidFill>
          <a:ln w="9525">
            <a:solidFill>
              <a:srgbClr val="1F2E1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91840" y="1417320"/>
            <a:ext cx="64008" cy="347472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0" y="1554480"/>
            <a:ext cx="1371600" cy="256032"/>
          </a:xfrm>
          <a:prstGeom prst="rect">
            <a:avLst/>
          </a:prstGeom>
          <a:solidFill>
            <a:srgbClr val="111811"/>
          </a:solidFill>
          <a:ln w="6350">
            <a:solidFill>
              <a:srgbClr val="FBBF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15544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 Users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74720" y="1947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8F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3474720" y="253288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F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Donors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474720" y="3044952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6B8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 proof of every donation made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0" y="361188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6B8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 wallet = permanent on-chain giving history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74720" y="4178808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6B8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Trustless — no need to trust NGO's word alone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17920" y="1417320"/>
            <a:ext cx="2697480" cy="3474720"/>
          </a:xfrm>
          <a:prstGeom prst="rect">
            <a:avLst/>
          </a:prstGeom>
          <a:solidFill>
            <a:srgbClr val="161E16"/>
          </a:solidFill>
          <a:ln w="9525">
            <a:solidFill>
              <a:srgbClr val="1F2E1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17920" y="1417320"/>
            <a:ext cx="64008" cy="347472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0" y="1554480"/>
            <a:ext cx="1371600" cy="256032"/>
          </a:xfrm>
          <a:prstGeom prst="rect">
            <a:avLst/>
          </a:prstGeom>
          <a:solidFill>
            <a:srgbClr val="111811"/>
          </a:solidFill>
          <a:ln w="6350">
            <a:solidFill>
              <a:srgbClr val="60A5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0" y="15544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Enterprise Tier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00800" y="1947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8F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6400800" y="253288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F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CSR Teams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400800" y="3044952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6B8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audit trail for ESG reporting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0" y="361188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6B8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records for compliance teams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00800" y="4178808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6B8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Micro-donations at near-zero transaction cost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B8F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TRUST METRICS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F5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TrustBond Score — quantifying trust from on-chain data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777240"/>
          </a:xfrm>
          <a:prstGeom prst="rect">
            <a:avLst/>
          </a:prstGeom>
          <a:solidFill>
            <a:srgbClr val="111811"/>
          </a:solidFill>
          <a:ln w="9525">
            <a:solidFill>
              <a:srgbClr val="1F2E1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417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TBS  =  DES×0.25  +  Commitment×0.25  +  Redemption×0.20  +  Retention×0.20  +  Age×0.10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solidFill>
            <a:srgbClr val="161E16"/>
          </a:solidFill>
          <a:ln w="9525">
            <a:solidFill>
              <a:srgbClr val="1F2E1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23774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F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Engagement Score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0" y="2377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of unique donation transactions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83680" y="23774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account_tx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955280" y="23774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25%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898648"/>
            <a:ext cx="8229600" cy="457200"/>
          </a:xfrm>
          <a:prstGeom prst="rect">
            <a:avLst/>
          </a:prstGeom>
          <a:solidFill>
            <a:srgbClr val="111811"/>
          </a:solidFill>
          <a:ln w="9525">
            <a:solidFill>
              <a:srgbClr val="1F2E1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289864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F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Commitment Depth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840480" y="289864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 held ÷ EDU ever received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83680" y="289864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account_lines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955280" y="289864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25%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419856"/>
            <a:ext cx="8229600" cy="457200"/>
          </a:xfrm>
          <a:prstGeom prst="rect">
            <a:avLst/>
          </a:prstGeom>
          <a:solidFill>
            <a:srgbClr val="161E16"/>
          </a:solidFill>
          <a:ln w="9525">
            <a:solidFill>
              <a:srgbClr val="1F2E1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" y="341985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F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Redemption Rate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840480" y="341985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EDU still held across all donors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83680" y="341985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Cross-account query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955280" y="341985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20%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3941064"/>
            <a:ext cx="8229600" cy="457200"/>
          </a:xfrm>
          <a:prstGeom prst="rect">
            <a:avLst/>
          </a:prstGeom>
          <a:solidFill>
            <a:srgbClr val="111811"/>
          </a:solidFill>
          <a:ln w="9525">
            <a:solidFill>
              <a:srgbClr val="1F2E1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0080" y="394106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F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Retention Rate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840480" y="394106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donors with 2+ donations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83680" y="394106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account_tx analysis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955280" y="394106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20%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4462272"/>
            <a:ext cx="8229600" cy="457200"/>
          </a:xfrm>
          <a:prstGeom prst="rect">
            <a:avLst/>
          </a:prstGeom>
          <a:solidFill>
            <a:srgbClr val="161E16"/>
          </a:solidFill>
          <a:ln w="9525">
            <a:solidFill>
              <a:srgbClr val="1F2E1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40080" y="446227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F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Trustline Age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840480" y="446227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since TrustSet was created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583680" y="446227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Ledger timestamp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955280" y="446227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10%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B8F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 HIGHLIGHTS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F5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 can see live today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4160520" cy="1097280"/>
          </a:xfrm>
          <a:prstGeom prst="rect">
            <a:avLst/>
          </a:prstGeom>
          <a:solidFill>
            <a:srgbClr val="161E16"/>
          </a:solidFill>
          <a:ln w="9525">
            <a:solidFill>
              <a:srgbClr val="1F2E1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417320"/>
            <a:ext cx="594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8F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143000" y="150876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XRPL Connection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1892808"/>
            <a:ext cx="3246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 connects to Altnet testnet — green dot confirms live status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417320"/>
            <a:ext cx="4160520" cy="1097280"/>
          </a:xfrm>
          <a:prstGeom prst="rect">
            <a:avLst/>
          </a:prstGeom>
          <a:solidFill>
            <a:srgbClr val="161E16"/>
          </a:solidFill>
          <a:ln w="9525">
            <a:solidFill>
              <a:srgbClr val="1F2E1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83480" y="1417320"/>
            <a:ext cx="594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8F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623560" y="150876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Pathfinding Visualizer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23560" y="1892808"/>
            <a:ext cx="3246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diagram shows ripple_path_find querying routes step by step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651760"/>
            <a:ext cx="4160520" cy="1097280"/>
          </a:xfrm>
          <a:prstGeom prst="rect">
            <a:avLst/>
          </a:prstGeom>
          <a:solidFill>
            <a:srgbClr val="161E16"/>
          </a:solidFill>
          <a:ln w="9525">
            <a:solidFill>
              <a:srgbClr val="1F2E1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2651760"/>
            <a:ext cx="594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8F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💸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143000" y="274320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Transactions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3000" y="3127248"/>
            <a:ext cx="3246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donation creates actual on-chain TX hashes — click to verify instantly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0" y="2651760"/>
            <a:ext cx="4160520" cy="1097280"/>
          </a:xfrm>
          <a:prstGeom prst="rect">
            <a:avLst/>
          </a:prstGeom>
          <a:solidFill>
            <a:srgbClr val="161E16"/>
          </a:solidFill>
          <a:ln w="9525">
            <a:solidFill>
              <a:srgbClr val="1F2E1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83480" y="2651760"/>
            <a:ext cx="594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8F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623560" y="274320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 Token Receipt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623560" y="3127248"/>
            <a:ext cx="3246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wallet EDU balance updates in real time after each confirmed donation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886200"/>
            <a:ext cx="4160520" cy="1097280"/>
          </a:xfrm>
          <a:prstGeom prst="rect">
            <a:avLst/>
          </a:prstGeom>
          <a:solidFill>
            <a:srgbClr val="161E16"/>
          </a:solidFill>
          <a:ln w="9525">
            <a:solidFill>
              <a:srgbClr val="1F2E1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02920" y="3886200"/>
            <a:ext cx="594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8F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143000" y="397764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Metrics Dashboard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43000" y="4361688"/>
            <a:ext cx="3246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XRP raised, EDU issued, transaction count — all update with every donation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46320" y="3886200"/>
            <a:ext cx="4160520" cy="1097280"/>
          </a:xfrm>
          <a:prstGeom prst="rect">
            <a:avLst/>
          </a:prstGeom>
          <a:solidFill>
            <a:srgbClr val="161E16"/>
          </a:solidFill>
          <a:ln w="9525">
            <a:solidFill>
              <a:srgbClr val="1F2E1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983480" y="3886200"/>
            <a:ext cx="594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8F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5623560" y="397764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Fallback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623560" y="4361688"/>
            <a:ext cx="3246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DEX liquidity? System transparently falls back to two-step model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B8F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F5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prototype to production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7863840" cy="0"/>
          </a:xfrm>
          <a:prstGeom prst="line">
            <a:avLst/>
          </a:prstGeom>
          <a:noFill/>
          <a:ln w="19050">
            <a:solidFill>
              <a:srgbClr val="16653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61872" y="2578608"/>
            <a:ext cx="320040" cy="3200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07008" y="2523744"/>
            <a:ext cx="429768" cy="429768"/>
          </a:xfrm>
          <a:prstGeom prst="ellipse">
            <a:avLst/>
          </a:prstGeom>
          <a:solidFill>
            <a:srgbClr val="4ADE80">
              <a:alpha val="35000"/>
            </a:srgbClr>
          </a:solidFill>
          <a:ln w="12700">
            <a:solidFill>
              <a:srgbClr val="4ADE80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8346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8F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Now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325880"/>
            <a:ext cx="1965960" cy="1188720"/>
          </a:xfrm>
          <a:prstGeom prst="rect">
            <a:avLst/>
          </a:prstGeom>
          <a:solidFill>
            <a:srgbClr val="161E16"/>
          </a:solidFill>
          <a:ln w="9525">
            <a:solidFill>
              <a:srgbClr val="1F2E1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325880"/>
            <a:ext cx="64008" cy="118872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37160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6459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24612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1000" dirty="0">
                <a:solidFill>
                  <a:srgbClr val="E8F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trustline + EDU token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363016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1000" dirty="0">
                <a:solidFill>
                  <a:srgbClr val="E8F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Pathfinding engine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4014216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1000" dirty="0">
                <a:solidFill>
                  <a:srgbClr val="E8F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web dashboard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4398264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1000" dirty="0">
                <a:solidFill>
                  <a:srgbClr val="E8F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metrics doc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438144" y="2578608"/>
            <a:ext cx="320040" cy="320040"/>
          </a:xfrm>
          <a:prstGeom prst="ellipse">
            <a:avLst/>
          </a:prstGeom>
          <a:solidFill>
            <a:srgbClr val="1F2E1F"/>
          </a:solidFill>
          <a:ln w="12700">
            <a:solidFill>
              <a:srgbClr val="1F2E1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33472" y="28346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8F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 1–2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633472" y="1325880"/>
            <a:ext cx="1965960" cy="1188720"/>
          </a:xfrm>
          <a:prstGeom prst="rect">
            <a:avLst/>
          </a:prstGeom>
          <a:solidFill>
            <a:srgbClr val="111811"/>
          </a:solidFill>
          <a:ln w="9525">
            <a:solidFill>
              <a:srgbClr val="1F2E1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770632" y="137160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770632" y="16459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Testnet MVP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633472" y="324612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1000" dirty="0">
                <a:solidFill>
                  <a:srgbClr val="6B8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Multi-NGO support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633472" y="363016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1000" dirty="0">
                <a:solidFill>
                  <a:srgbClr val="6B8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TrustBond Score engine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633472" y="4014216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1000" dirty="0">
                <a:solidFill>
                  <a:srgbClr val="6B8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Auto-trigger on payment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633472" y="4398264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1000" dirty="0">
                <a:solidFill>
                  <a:srgbClr val="6B8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Mobile-responsive UI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614416" y="2578608"/>
            <a:ext cx="320040" cy="320040"/>
          </a:xfrm>
          <a:prstGeom prst="ellipse">
            <a:avLst/>
          </a:prstGeom>
          <a:solidFill>
            <a:srgbClr val="1F2E1F"/>
          </a:solidFill>
          <a:ln w="12700">
            <a:solidFill>
              <a:srgbClr val="1F2E1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9744" y="28346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8F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 3–6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809744" y="1325880"/>
            <a:ext cx="1965960" cy="1188720"/>
          </a:xfrm>
          <a:prstGeom prst="rect">
            <a:avLst/>
          </a:prstGeom>
          <a:solidFill>
            <a:srgbClr val="111811"/>
          </a:solidFill>
          <a:ln w="9525">
            <a:solidFill>
              <a:srgbClr val="1F2E1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946904" y="137160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3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946904" y="16459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Mainnet Beta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809744" y="324612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1000" dirty="0">
                <a:solidFill>
                  <a:srgbClr val="6B8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XRPL mainnet deploy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09744" y="363016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1000" dirty="0">
                <a:solidFill>
                  <a:srgbClr val="6B8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KYC/AML integration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09744" y="4014216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1000" dirty="0">
                <a:solidFill>
                  <a:srgbClr val="6B8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NGO partners live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09744" y="4398264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1000" dirty="0">
                <a:solidFill>
                  <a:srgbClr val="6B8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DEX liquidity seeding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790688" y="2578608"/>
            <a:ext cx="320040" cy="320040"/>
          </a:xfrm>
          <a:prstGeom prst="ellipse">
            <a:avLst/>
          </a:prstGeom>
          <a:solidFill>
            <a:srgbClr val="1F2E1F"/>
          </a:solidFill>
          <a:ln w="12700">
            <a:solidFill>
              <a:srgbClr val="1F2E1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86016" y="28346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8F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 6–12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986016" y="1325880"/>
            <a:ext cx="1965960" cy="1188720"/>
          </a:xfrm>
          <a:prstGeom prst="rect">
            <a:avLst/>
          </a:prstGeom>
          <a:solidFill>
            <a:srgbClr val="111811"/>
          </a:solidFill>
          <a:ln w="9525">
            <a:solidFill>
              <a:srgbClr val="1F2E1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123176" y="137160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8F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4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123176" y="16459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986016" y="324612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8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1000" dirty="0">
                <a:solidFill>
                  <a:srgbClr val="6B8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API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986016" y="363016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8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1000" dirty="0">
                <a:solidFill>
                  <a:srgbClr val="6B8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license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986016" y="4014216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8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1000" dirty="0">
                <a:solidFill>
                  <a:srgbClr val="6B8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Cross-chain bridge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986016" y="4398264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8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1000" dirty="0">
                <a:solidFill>
                  <a:srgbClr val="6B8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launch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5080">
            <a:solidFill>
              <a:srgbClr val="1A2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0"/>
            <a:ext cx="0" cy="5143500"/>
          </a:xfrm>
          <a:prstGeom prst="line">
            <a:avLst/>
          </a:prstGeom>
          <a:noFill/>
          <a:ln w="5080">
            <a:solidFill>
              <a:srgbClr val="1A2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0"/>
            <a:ext cx="0" cy="5143500"/>
          </a:xfrm>
          <a:prstGeom prst="line">
            <a:avLst/>
          </a:prstGeom>
          <a:noFill/>
          <a:ln w="5080">
            <a:solidFill>
              <a:srgbClr val="1A2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0"/>
            <a:ext cx="0" cy="5143500"/>
          </a:xfrm>
          <a:prstGeom prst="line">
            <a:avLst/>
          </a:prstGeom>
          <a:noFill/>
          <a:ln w="5080">
            <a:solidFill>
              <a:srgbClr val="1A2A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63040" y="0"/>
            <a:ext cx="0" cy="5143500"/>
          </a:xfrm>
          <a:prstGeom prst="line">
            <a:avLst/>
          </a:prstGeom>
          <a:noFill/>
          <a:ln w="5080">
            <a:solidFill>
              <a:srgbClr val="1A2A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5080">
            <a:solidFill>
              <a:srgbClr val="1A2A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94560" y="0"/>
            <a:ext cx="0" cy="5143500"/>
          </a:xfrm>
          <a:prstGeom prst="line">
            <a:avLst/>
          </a:prstGeom>
          <a:noFill/>
          <a:ln w="5080">
            <a:solidFill>
              <a:srgbClr val="1A2A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0" y="0"/>
            <a:ext cx="0" cy="5143500"/>
          </a:xfrm>
          <a:prstGeom prst="line">
            <a:avLst/>
          </a:prstGeom>
          <a:noFill/>
          <a:ln w="5080">
            <a:solidFill>
              <a:srgbClr val="1A2A1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26080" y="0"/>
            <a:ext cx="0" cy="5143500"/>
          </a:xfrm>
          <a:prstGeom prst="line">
            <a:avLst/>
          </a:prstGeom>
          <a:noFill/>
          <a:ln w="5080">
            <a:solidFill>
              <a:srgbClr val="1A2A1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0"/>
            <a:ext cx="0" cy="5143500"/>
          </a:xfrm>
          <a:prstGeom prst="line">
            <a:avLst/>
          </a:prstGeom>
          <a:noFill/>
          <a:ln w="5080">
            <a:solidFill>
              <a:srgbClr val="1A2A1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5080">
            <a:solidFill>
              <a:srgbClr val="1A2A1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023360" y="0"/>
            <a:ext cx="0" cy="5143500"/>
          </a:xfrm>
          <a:prstGeom prst="line">
            <a:avLst/>
          </a:prstGeom>
          <a:noFill/>
          <a:ln w="5080">
            <a:solidFill>
              <a:srgbClr val="1A2A1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89120" y="0"/>
            <a:ext cx="0" cy="5143500"/>
          </a:xfrm>
          <a:prstGeom prst="line">
            <a:avLst/>
          </a:prstGeom>
          <a:noFill/>
          <a:ln w="5080">
            <a:solidFill>
              <a:srgbClr val="1A2A1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0" y="0"/>
            <a:ext cx="0" cy="5143500"/>
          </a:xfrm>
          <a:prstGeom prst="line">
            <a:avLst/>
          </a:prstGeom>
          <a:noFill/>
          <a:ln w="5080">
            <a:solidFill>
              <a:srgbClr val="1A2A1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20640" y="0"/>
            <a:ext cx="0" cy="5143500"/>
          </a:xfrm>
          <a:prstGeom prst="line">
            <a:avLst/>
          </a:prstGeom>
          <a:noFill/>
          <a:ln w="5080">
            <a:solidFill>
              <a:srgbClr val="1A2A1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5080">
            <a:solidFill>
              <a:srgbClr val="1A2A1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52160" y="0"/>
            <a:ext cx="0" cy="5143500"/>
          </a:xfrm>
          <a:prstGeom prst="line">
            <a:avLst/>
          </a:prstGeom>
          <a:noFill/>
          <a:ln w="5080">
            <a:solidFill>
              <a:srgbClr val="1A2A1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0"/>
            <a:ext cx="0" cy="5143500"/>
          </a:xfrm>
          <a:prstGeom prst="line">
            <a:avLst/>
          </a:prstGeom>
          <a:noFill/>
          <a:ln w="5080">
            <a:solidFill>
              <a:srgbClr val="1A2A1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5080">
            <a:solidFill>
              <a:srgbClr val="1A2A1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49440" y="0"/>
            <a:ext cx="0" cy="5143500"/>
          </a:xfrm>
          <a:prstGeom prst="line">
            <a:avLst/>
          </a:prstGeom>
          <a:noFill/>
          <a:ln w="5080">
            <a:solidFill>
              <a:srgbClr val="1A2A1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5080">
            <a:solidFill>
              <a:srgbClr val="1A2A1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680960" y="0"/>
            <a:ext cx="0" cy="5143500"/>
          </a:xfrm>
          <a:prstGeom prst="line">
            <a:avLst/>
          </a:prstGeom>
          <a:noFill/>
          <a:ln w="5080">
            <a:solidFill>
              <a:srgbClr val="1A2A1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46720" y="0"/>
            <a:ext cx="0" cy="5143500"/>
          </a:xfrm>
          <a:prstGeom prst="line">
            <a:avLst/>
          </a:prstGeom>
          <a:noFill/>
          <a:ln w="5080">
            <a:solidFill>
              <a:srgbClr val="1A2A1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12480" y="0"/>
            <a:ext cx="0" cy="5143500"/>
          </a:xfrm>
          <a:prstGeom prst="line">
            <a:avLst/>
          </a:prstGeom>
          <a:noFill/>
          <a:ln w="5080">
            <a:solidFill>
              <a:srgbClr val="1A2A1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778240" y="0"/>
            <a:ext cx="0" cy="5143500"/>
          </a:xfrm>
          <a:prstGeom prst="line">
            <a:avLst/>
          </a:prstGeom>
          <a:noFill/>
          <a:ln w="5080">
            <a:solidFill>
              <a:srgbClr val="1A2A1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5080">
            <a:solidFill>
              <a:srgbClr val="1A2A1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5080">
            <a:solidFill>
              <a:srgbClr val="1A2A1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1A2A1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1A2A1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1A2A1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1A2A1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1A2A1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1A2A1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1A2A1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1A2A1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1A2A1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1A2A1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1A2A1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1A2A1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1A2A1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1A2A1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486400" y="-914400"/>
            <a:ext cx="5486400" cy="5486400"/>
          </a:xfrm>
          <a:prstGeom prst="ellipse">
            <a:avLst/>
          </a:prstGeom>
          <a:solidFill>
            <a:srgbClr val="4ADE80">
              <a:alpha val="12000"/>
            </a:srgbClr>
          </a:solidFill>
          <a:ln w="12700">
            <a:solidFill>
              <a:srgbClr val="4ADE80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0080" y="10972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i="1" dirty="0">
                <a:solidFill>
                  <a:srgbClr val="6B8F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a world where trust is scarce,</a:t>
            </a:r>
            <a:endParaRPr lang="en-US" sz="2600" dirty="0"/>
          </a:p>
        </p:txBody>
      </p:sp>
      <p:sp>
        <p:nvSpPr>
          <p:cNvPr id="45" name="Text 43"/>
          <p:cNvSpPr/>
          <p:nvPr/>
        </p:nvSpPr>
        <p:spPr>
          <a:xfrm>
            <a:off x="640080" y="173736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4ADE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TrustBond makes it computable.</a:t>
            </a:r>
            <a:endParaRPr lang="en-US" sz="3200" dirty="0"/>
          </a:p>
        </p:txBody>
      </p:sp>
      <p:sp>
        <p:nvSpPr>
          <p:cNvPr id="46" name="Shape 44"/>
          <p:cNvSpPr/>
          <p:nvPr/>
        </p:nvSpPr>
        <p:spPr>
          <a:xfrm>
            <a:off x="640080" y="2697480"/>
            <a:ext cx="3200400" cy="0"/>
          </a:xfrm>
          <a:prstGeom prst="line">
            <a:avLst/>
          </a:prstGeom>
          <a:noFill/>
          <a:ln w="12700">
            <a:solidFill>
              <a:srgbClr val="16653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0080" y="28803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F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Dashboard: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2103120" y="28803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5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index.html in browser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40080" y="331927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F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 Demo  :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2103120" y="331927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5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 pathfind.js 5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40080" y="375818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F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Verify TX :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2103120" y="375818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5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testnet.xrpl.org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40080" y="419709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F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   :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2103120" y="4197096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5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XRPL Altnet Testnet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6217920" y="3200400"/>
            <a:ext cx="2560320" cy="1645920"/>
          </a:xfrm>
          <a:prstGeom prst="rect">
            <a:avLst/>
          </a:prstGeom>
          <a:solidFill>
            <a:srgbClr val="161E16"/>
          </a:solidFill>
          <a:ln w="9525">
            <a:solidFill>
              <a:srgbClr val="1F2E1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6217920" y="3291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6B8F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BUILT WITH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217920" y="361188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xrpl.js  ·  Node.js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XRPL Testnet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Vanilla HTML/CSS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TrustBond Pitch Deck</dc:title>
  <dc:subject>PptxGenJS Presentation</dc:subject>
  <dc:creator>PptxGenJS</dc:creator>
  <cp:lastModifiedBy>PptxGenJS</cp:lastModifiedBy>
  <cp:revision>1</cp:revision>
  <dcterms:created xsi:type="dcterms:W3CDTF">2026-03-17T16:58:03Z</dcterms:created>
  <dcterms:modified xsi:type="dcterms:W3CDTF">2026-03-17T16:58:03Z</dcterms:modified>
</cp:coreProperties>
</file>